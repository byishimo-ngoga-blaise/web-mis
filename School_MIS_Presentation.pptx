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0" y="914400"/>
            <a:ext cx="6858000" cy="5029200"/>
          </a:xfrm>
          <a:prstGeom prst="rect">
            <a:avLst/>
          </a:prstGeom>
          <a:solidFill>
            <a:srgbClr val="14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6366F1"/>
                </a:solidFill>
              </a:defRPr>
            </a:pPr>
            <a:r>
              <a:t>SCHOOL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8B5CF6"/>
                </a:solidFill>
              </a:defRPr>
            </a:pPr>
            <a:r>
              <a:t>INFORMATION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</a:defRPr>
            </a:pPr>
            <a:r>
              <a:t>Technical Architecture &amp; Design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4572000"/>
            <a:ext cx="164592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PHP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4572000"/>
            <a:ext cx="1645920" cy="320040"/>
          </a:xfrm>
          <a:prstGeom prst="round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MySQL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4572000"/>
            <a:ext cx="1645920" cy="320040"/>
          </a:xfrm>
          <a:prstGeom prst="round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Chart.js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4572000"/>
            <a:ext cx="1645920" cy="3200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Vanilla 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4 Roles  |  10 Tables  |  43 PHP Files  |  3 JS Modules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366F1"/>
                </a:solidFill>
              </a:defRPr>
            </a:pPr>
            <a:r>
              <a:t>AGENDA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515600" cy="438912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2344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  <a:r>
              <a:t>System Architecture &amp; Database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515600" cy="438912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737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  <a:r>
              <a:t>Security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94560"/>
            <a:ext cx="10515600" cy="438912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4028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2402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  <a:r>
              <a:t>Authentication &amp; Authorization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697480"/>
            <a:ext cx="10515600" cy="438912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4320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74320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  <a:r>
              <a:t>Dual-Role Portal Switching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00400"/>
            <a:ext cx="10515600" cy="438912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24612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24612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  <a:r>
              <a:t>Enrollment Workflow (3 Paths)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03320"/>
            <a:ext cx="10515600" cy="438912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74904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7490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  <a:r>
              <a:t>Grade Management System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206240"/>
            <a:ext cx="10515600" cy="438912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25196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</a:defRPr>
            </a:pPr>
            <a: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2519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  <a:r>
              <a:t>Attendance &amp; Financial Systems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709160"/>
            <a:ext cx="10515600" cy="438912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75488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</a:defRPr>
            </a:pPr>
            <a: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7548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  <a:r>
              <a:t>Reporting &amp; Analytics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212080"/>
            <a:ext cx="10515600" cy="438912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25780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</a:defRPr>
            </a:pPr>
            <a:r>
              <a:t>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525780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  <a:r>
              <a:t>Frontend Patterns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715000"/>
            <a:ext cx="10515600" cy="438912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76072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</a:defRPr>
            </a:pPr>
            <a: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576072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  <a:r>
              <a:t>Tricky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366F1"/>
                </a:solidFill>
              </a:defRPr>
            </a:pPr>
            <a:r>
              <a:t>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  <a:r>
              <a:t>A full-stack PHP/MySQL academic management platform supporting 4 roles with a</a:t>
            </a:r>
            <a:br/>
            <a:r>
              <a:t>dual-role mechanism for lecturers who are also Heads of Department.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60320"/>
            <a:ext cx="25603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20" y="2743200"/>
            <a:ext cx="164592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2918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Vanilla PHP 8</a:t>
            </a:r>
            <a:br/>
            <a:r>
              <a:t>No framework</a:t>
            </a:r>
            <a:br/>
            <a:r>
              <a:t>Prepared statements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2560320"/>
            <a:ext cx="25603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023360" y="2743200"/>
            <a:ext cx="1645920" cy="320040"/>
          </a:xfrm>
          <a:prstGeom prst="round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Database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32918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MySQL InnoDB</a:t>
            </a:r>
            <a:br/>
            <a:r>
              <a:t>10 tables</a:t>
            </a:r>
            <a:br/>
            <a:r>
              <a:t>utf8mb4_unicode_ci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560320"/>
            <a:ext cx="25603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0" y="2743200"/>
            <a:ext cx="1645920" cy="3200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2918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Custom CSS</a:t>
            </a:r>
            <a:br/>
            <a:r>
              <a:t>Chart.js for analytics</a:t>
            </a:r>
            <a:br/>
            <a:r>
              <a:t>Vanilla JS modules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2560320"/>
            <a:ext cx="25603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92640" y="2743200"/>
            <a:ext cx="1645920" cy="3200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32918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CSRF tokens</a:t>
            </a:r>
            <a:br/>
            <a:r>
              <a:t>Rate limiting</a:t>
            </a:r>
            <a:br/>
            <a:r>
              <a:t>Session hardening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29200"/>
            <a:ext cx="1645920" cy="10972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1206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5778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Users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60320" y="5029200"/>
            <a:ext cx="1645920" cy="10972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60320" y="51206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55778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Courses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5029200"/>
            <a:ext cx="1645920" cy="10972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51206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55778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Enrollments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5029200"/>
            <a:ext cx="1645920" cy="10972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51206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43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55778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Grades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5029200"/>
            <a:ext cx="1645920" cy="10972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51206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~150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55778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Attendance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75520" y="5029200"/>
            <a:ext cx="1645920" cy="10972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20" y="51206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13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55778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Payments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366F1"/>
                </a:solidFill>
              </a:defRPr>
            </a:pPr>
            <a:r>
              <a:t>DATABASE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515600" cy="2286000"/>
          </a:xfrm>
          <a:prstGeom prst="roundRect">
            <a:avLst/>
          </a:prstGeom>
          <a:solidFill>
            <a:srgbClr val="010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>
                <a:solidFill>
                  <a:srgbClr val="22C55E"/>
                </a:solidFill>
                <a:latin typeface="Consolas"/>
              </a:defRPr>
            </a:pPr>
            <a:r>
              <a:t>roles ──── users ──── departments ──── courses ──── course_enrollments ──── grades</a:t>
            </a:r>
            <a:br/>
            <a:r>
              <a:t>                                     │                              │</a:t>
            </a:r>
            <a:br/>
            <a:r>
              <a:t>                                     │                              └── attendance</a:t>
            </a:r>
            <a:br/>
            <a:r>
              <a:t>                                     └── course_approvals</a:t>
            </a:r>
            <a:br/>
            <a:br/>
            <a:r>
              <a:t>users ──── payments          courses ──── course_schedules</a:t>
            </a:r>
          </a:p>
          <a:p>
            <a:pPr>
              <a:spcAft>
                <a:spcPts val="200"/>
              </a:spcAft>
              <a:defRPr sz="1300">
                <a:solidFill>
                  <a:srgbClr val="22C55E"/>
                </a:solidFill>
                <a:latin typeface="Consolas"/>
              </a:defRPr>
            </a:pPr>
            <a:r>
              <a:t>                                     │                              │</a:t>
            </a:r>
          </a:p>
          <a:p>
            <a:pPr>
              <a:spcAft>
                <a:spcPts val="200"/>
              </a:spcAft>
              <a:defRPr sz="1300">
                <a:solidFill>
                  <a:srgbClr val="22C55E"/>
                </a:solidFill>
                <a:latin typeface="Consolas"/>
              </a:defRPr>
            </a:pPr>
            <a:r>
              <a:t>                                     │                              └── attendance</a:t>
            </a:r>
          </a:p>
          <a:p>
            <a:pPr>
              <a:spcAft>
                <a:spcPts val="200"/>
              </a:spcAft>
              <a:defRPr sz="1300">
                <a:solidFill>
                  <a:srgbClr val="22C55E"/>
                </a:solidFill>
                <a:latin typeface="Consolas"/>
              </a:defRPr>
            </a:pPr>
            <a:r>
              <a:t>                                     └── course_approvals</a:t>
            </a:r>
          </a:p>
          <a:p>
            <a:pPr>
              <a:spcAft>
                <a:spcPts val="200"/>
              </a:spcAft>
              <a:defRPr sz="1300">
                <a:solidFill>
                  <a:srgbClr val="22C55E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22C55E"/>
                </a:solidFill>
                <a:latin typeface="Consolas"/>
              </a:defRPr>
            </a:pPr>
            <a:r>
              <a:t>users ──── payments          courses ──── course_schedules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657600"/>
            <a:ext cx="10515600" cy="301752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758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36758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367588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Key Constraints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59352"/>
            <a:ext cx="10515600" cy="301752"/>
          </a:xfrm>
          <a:prstGeom prst="round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77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</a:defRPr>
            </a:pPr>
            <a:r>
              <a:t>roles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977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6F1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9776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PK on 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61104"/>
            <a:ext cx="10515600" cy="301752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793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</a:defRPr>
            </a:pPr>
            <a:r>
              <a:t>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42793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6F1"/>
                </a:solidFill>
              </a:defRPr>
            </a:pPr>
            <a: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27939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UNIQUE(email), FK roles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562856"/>
            <a:ext cx="10515600" cy="301752"/>
          </a:xfrm>
          <a:prstGeom prst="round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5811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</a:defRPr>
            </a:pPr>
            <a:r>
              <a:t>departments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5811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6F1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581144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UNIQUE(code), FK users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864608"/>
            <a:ext cx="10515600" cy="301752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8289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</a:defRPr>
            </a:pPr>
            <a:r>
              <a:t>courses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8828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6F1"/>
                </a:solidFill>
              </a:defRPr>
            </a:pPr>
            <a:r>
              <a:t>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4882896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UNIQUE(code), FK dept, FK lecturer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166360"/>
            <a:ext cx="10515600" cy="301752"/>
          </a:xfrm>
          <a:prstGeom prst="round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1846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</a:defRPr>
            </a:pPr>
            <a:r>
              <a:t>course_enrollments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1846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6F1"/>
                </a:solidFill>
              </a:defRPr>
            </a:pPr>
            <a:r>
              <a:t>44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518464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UNIQUE(student, course), FK courses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468112"/>
            <a:ext cx="10515600" cy="301752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486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</a:defRPr>
            </a:pPr>
            <a:r>
              <a:t>course_approvals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5486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6F1"/>
                </a:solidFill>
              </a:defRPr>
            </a:pPr>
            <a:r>
              <a:t>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54864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FK users, FK courses, ENUM status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769864"/>
            <a:ext cx="10515600" cy="301752"/>
          </a:xfrm>
          <a:prstGeom prst="round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7881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</a:defRPr>
            </a:pPr>
            <a:r>
              <a:t>grades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57881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6F1"/>
                </a:solidFill>
              </a:defRPr>
            </a:pPr>
            <a:r>
              <a:t>43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578815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UNIQUE(enrollment_id), FK enrollments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6071616"/>
            <a:ext cx="10515600" cy="301752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608990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</a:defRPr>
            </a:pPr>
            <a:r>
              <a:t>attendance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0" y="60899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6F1"/>
                </a:solidFill>
              </a:defRPr>
            </a:pPr>
            <a:r>
              <a:t>~150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0" y="6089904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UNIQUE(enrollment, date), FK enrollments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6373368"/>
            <a:ext cx="10515600" cy="301752"/>
          </a:xfrm>
          <a:prstGeom prst="round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639165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</a:defRPr>
            </a:pPr>
            <a:r>
              <a:t>payments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639165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6F1"/>
                </a:solidFill>
              </a:defRPr>
            </a:pPr>
            <a:r>
              <a:t>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0" y="6391656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FK users(student_id)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6675120"/>
            <a:ext cx="10515600" cy="301752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66934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</a:defRPr>
            </a:pPr>
            <a:r>
              <a:t>course_schedules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0" y="66934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6F1"/>
                </a:solidFill>
              </a:defRPr>
            </a:pPr>
            <a:r>
              <a:t>12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0" y="669340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UNIQUE(course_id)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366F1"/>
                </a:solidFill>
              </a:defRPr>
            </a:pPr>
            <a:r>
              <a:t>ROLES &amp; CAPABILITIES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2560320" cy="5029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371600"/>
            <a:ext cx="164592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ADMIN (role_id=1)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Full CRUD on users, departments, courses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Direct enrollment (no approval needed)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School-wide reports with 10+ charts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13 PHP files in admin/ portal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188720"/>
            <a:ext cx="2560320" cy="5029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023360" y="1371600"/>
            <a:ext cx="1645920" cy="320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HOD (role_id=2)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40" y="201168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Department-scoped management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Approve/reject student enrollments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Enter grades, take attendance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14 PHP files in HOD/ portal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188720"/>
            <a:ext cx="2560320" cy="5029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0" y="1371600"/>
            <a:ext cx="1645920" cy="3200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LECTURER (role_id=3)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01168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Enter grades for assigned courses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Take attendance for assigned courses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View timetable and profile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8 PHP files in lecturer/ portal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188720"/>
            <a:ext cx="2560320" cy="5029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92640" y="1371600"/>
            <a:ext cx="1645920" cy="320040"/>
          </a:xfrm>
          <a:prstGeom prst="round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STUDENT (role_id=4)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201168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Request course enrollment (needs HOD approval)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View grades, attendance, financial portal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View schedule and profile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8 PHP files in student/ portal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366F1"/>
                </a:solidFill>
              </a:defRPr>
            </a:pPr>
            <a:r>
              <a:t>SECURITY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303520" cy="2560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366F1"/>
                </a:solidFill>
              </a:defRPr>
            </a:pPr>
            <a:r>
              <a:t>Session 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use_strict_mode = 1 (reject uninitialized IDs)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use_only_cookies = 1 (no session in URL)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cookie_httponly = 1 (no JS access)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cookie_samesite = Lax (CSRF mitigation)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Auto-regeneration every 300 seconds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188720"/>
            <a:ext cx="5303520" cy="2560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280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</a:defRPr>
            </a:pPr>
            <a:r>
              <a:t>Rate Limiting &amp; Auth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3736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5 login attempts per 15 minutes per IP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password_verify() with bcrypt hash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Inactive user blocking (is_active=0)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Generic error messages (no enumeration)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Session regeneration on login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303520" cy="2560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</a:defRPr>
            </a:pPr>
            <a:r>
              <a:t>CSRF Protection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64-char hex token via random_bytes(32)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hash_equals() for timing-safe comparison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Applied to every POST form across all portals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Prevents cross-site request forgery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931920"/>
            <a:ext cx="5303520" cy="2560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4023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AB308"/>
                </a:solidFill>
              </a:defRPr>
            </a:pPr>
            <a:r>
              <a:t>SQLi &amp; XSS Prevention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4805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100% prepared statements with bind_param()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Zero string interpolation in SQL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htmlspecialchars() on all output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sanitize() function: trim + ENT_QUOTES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6 security response headers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366F1"/>
                </a:solidFill>
              </a:defRPr>
            </a:pPr>
            <a:r>
              <a:t>AUTHENTICATION &amp; AUTHORIZATION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943600" cy="3200400"/>
          </a:xfrm>
          <a:prstGeom prst="roundRect">
            <a:avLst/>
          </a:prstGeom>
          <a:solidFill>
            <a:srgbClr val="010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400">
                <a:solidFill>
                  <a:srgbClr val="22C55E"/>
                </a:solidFill>
                <a:latin typeface="Consolas"/>
              </a:defRPr>
            </a:pPr>
            <a:r>
              <a:t>User submits credentials</a:t>
            </a:r>
            <a:br/>
            <a:r>
              <a:t>    |-&gt; Rate limit check (5/15min per IP)</a:t>
            </a:r>
            <a:br/>
            <a:r>
              <a:t>    |-&gt; Prepared statement query (email + is_active=1)</a:t>
            </a:r>
            <a:br/>
            <a:r>
              <a:t>    |-&gt; password_verify() against bcrypt hash</a:t>
            </a:r>
            <a:br/>
            <a:r>
              <a:t>    |-&gt; Session regeneration</a:t>
            </a:r>
            <a:br/>
            <a:r>
              <a:t>    |-&gt; HOD detection (query departments.hod_id)</a:t>
            </a:r>
            <a:br/>
            <a:r>
              <a:t>    |-&gt; Portal mode assignment</a:t>
            </a:r>
            <a:br/>
            <a:r>
              <a:t>    |-&gt; Redirect based on role</a:t>
            </a:r>
          </a:p>
          <a:p>
            <a:pPr>
              <a:spcAft>
                <a:spcPts val="200"/>
              </a:spcAft>
              <a:defRPr sz="1400">
                <a:solidFill>
                  <a:srgbClr val="22C55E"/>
                </a:solidFill>
                <a:latin typeface="Consolas"/>
              </a:defRPr>
            </a:pPr>
            <a:r>
              <a:t>    |-&gt; Rate limit check (5/15min per IP)</a:t>
            </a:r>
          </a:p>
          <a:p>
            <a:pPr>
              <a:spcAft>
                <a:spcPts val="200"/>
              </a:spcAft>
              <a:defRPr sz="1400">
                <a:solidFill>
                  <a:srgbClr val="22C55E"/>
                </a:solidFill>
                <a:latin typeface="Consolas"/>
              </a:defRPr>
            </a:pPr>
            <a:r>
              <a:t>    |-&gt; Prepared statement query (email + is_active=1)</a:t>
            </a:r>
          </a:p>
          <a:p>
            <a:pPr>
              <a:spcAft>
                <a:spcPts val="200"/>
              </a:spcAft>
              <a:defRPr sz="1400">
                <a:solidFill>
                  <a:srgbClr val="22C55E"/>
                </a:solidFill>
                <a:latin typeface="Consolas"/>
              </a:defRPr>
            </a:pPr>
            <a:r>
              <a:t>    |-&gt; password_verify() against bcrypt hash</a:t>
            </a:r>
          </a:p>
          <a:p>
            <a:pPr>
              <a:spcAft>
                <a:spcPts val="200"/>
              </a:spcAft>
              <a:defRPr sz="1400">
                <a:solidFill>
                  <a:srgbClr val="22C55E"/>
                </a:solidFill>
                <a:latin typeface="Consolas"/>
              </a:defRPr>
            </a:pPr>
            <a:r>
              <a:t>    |-&gt; Session regeneration</a:t>
            </a:r>
          </a:p>
          <a:p>
            <a:pPr>
              <a:spcAft>
                <a:spcPts val="200"/>
              </a:spcAft>
              <a:defRPr sz="1400">
                <a:solidFill>
                  <a:srgbClr val="22C55E"/>
                </a:solidFill>
                <a:latin typeface="Consolas"/>
              </a:defRPr>
            </a:pPr>
            <a:r>
              <a:t>    |-&gt; HOD detection (query departments.hod_id)</a:t>
            </a:r>
          </a:p>
          <a:p>
            <a:pPr>
              <a:spcAft>
                <a:spcPts val="200"/>
              </a:spcAft>
              <a:defRPr sz="1400">
                <a:solidFill>
                  <a:srgbClr val="22C55E"/>
                </a:solidFill>
                <a:latin typeface="Consolas"/>
              </a:defRPr>
            </a:pPr>
            <a:r>
              <a:t>    |-&gt; Portal mode assignment</a:t>
            </a:r>
          </a:p>
          <a:p>
            <a:pPr>
              <a:spcAft>
                <a:spcPts val="200"/>
              </a:spcAft>
              <a:defRPr sz="1400">
                <a:solidFill>
                  <a:srgbClr val="22C55E"/>
                </a:solidFill>
                <a:latin typeface="Consolas"/>
              </a:defRPr>
            </a:pPr>
            <a:r>
              <a:t>    |-&gt; Redirect based on role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0" y="1188720"/>
            <a:ext cx="4389120" cy="3200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0" y="1280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366F1"/>
                </a:solidFill>
              </a:defRPr>
            </a:pPr>
            <a:r>
              <a:t>requireRole() Function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8288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Called on every portal page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Dual-role users checked against current portal_mode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Mismatched mode = redirect to correct dashboard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Single-role users: base role must match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Enforced server-side, not just UI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10515600" cy="2011680"/>
          </a:xfrm>
          <a:prstGeom prst="roundRect">
            <a:avLst/>
          </a:prstGeom>
          <a:solidFill>
            <a:srgbClr val="010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>
                <a:solidFill>
                  <a:srgbClr val="22C55E"/>
                </a:solidFill>
                <a:latin typeface="Consolas"/>
              </a:defRPr>
            </a:pPr>
            <a:r>
              <a:t>function requireRole($requiredRole) {</a:t>
            </a:r>
            <a:br/>
            <a:r>
              <a:t>    if (isDualRole()) {</a:t>
            </a:r>
            <a:br/>
            <a:r>
              <a:t>        $mode = getPortalMode();</a:t>
            </a:r>
            <a:br/>
            <a:r>
              <a:t>        if ($mode === $requiredRole) return;  // Allow</a:t>
            </a:r>
            <a:br/>
            <a:r>
              <a:t>        header('Location: ' . $redirects[$mode]);  // Redirect</a:t>
            </a:r>
            <a:br/>
            <a:r>
              <a:t>        exit();</a:t>
            </a:r>
            <a:br/>
            <a:r>
              <a:t>    }</a:t>
            </a:r>
            <a:br/>
            <a:r>
              <a:t>    if ($_SESSION['role'] !== $requiredRole) {</a:t>
            </a:r>
            <a:br/>
            <a:r>
              <a:t>        header('Location: ../index.php?error=unauthorized');</a:t>
            </a:r>
            <a:br/>
            <a:r>
              <a:t>    }</a:t>
            </a:r>
            <a:br/>
            <a:r>
              <a:t>}</a:t>
            </a:r>
          </a:p>
          <a:p>
            <a:pPr>
              <a:spcAft>
                <a:spcPts val="200"/>
              </a:spcAft>
              <a:defRPr sz="1300">
                <a:solidFill>
                  <a:srgbClr val="22C55E"/>
                </a:solidFill>
                <a:latin typeface="Consolas"/>
              </a:defRPr>
            </a:pPr>
            <a:r>
              <a:t>    if (isDualRole()) {</a:t>
            </a:r>
          </a:p>
          <a:p>
            <a:pPr>
              <a:spcAft>
                <a:spcPts val="200"/>
              </a:spcAft>
              <a:defRPr sz="1300">
                <a:solidFill>
                  <a:srgbClr val="22C55E"/>
                </a:solidFill>
                <a:latin typeface="Consolas"/>
              </a:defRPr>
            </a:pPr>
            <a:r>
              <a:t>        $mode = getPortalMode();</a:t>
            </a:r>
          </a:p>
          <a:p>
            <a:pPr>
              <a:spcAft>
                <a:spcPts val="200"/>
              </a:spcAft>
              <a:defRPr sz="1300">
                <a:solidFill>
                  <a:srgbClr val="22C55E"/>
                </a:solidFill>
                <a:latin typeface="Consolas"/>
              </a:defRPr>
            </a:pPr>
            <a:r>
              <a:t>        if ($mode === $requiredRole) return;  // Allow</a:t>
            </a:r>
          </a:p>
          <a:p>
            <a:pPr>
              <a:spcAft>
                <a:spcPts val="200"/>
              </a:spcAft>
              <a:defRPr sz="1300">
                <a:solidFill>
                  <a:srgbClr val="22C55E"/>
                </a:solidFill>
                <a:latin typeface="Consolas"/>
              </a:defRPr>
            </a:pPr>
            <a:r>
              <a:t>        header('Location: ' . $redirects[$mode]);  // Redirect</a:t>
            </a:r>
          </a:p>
          <a:p>
            <a:pPr>
              <a:spcAft>
                <a:spcPts val="200"/>
              </a:spcAft>
              <a:defRPr sz="1300">
                <a:solidFill>
                  <a:srgbClr val="22C55E"/>
                </a:solidFill>
                <a:latin typeface="Consolas"/>
              </a:defRPr>
            </a:pPr>
            <a:r>
              <a:t>        exit();</a:t>
            </a:r>
          </a:p>
          <a:p>
            <a:pPr>
              <a:spcAft>
                <a:spcPts val="200"/>
              </a:spcAft>
              <a:defRPr sz="1300">
                <a:solidFill>
                  <a:srgbClr val="22C55E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200"/>
              </a:spcAft>
              <a:defRPr sz="1300">
                <a:solidFill>
                  <a:srgbClr val="22C55E"/>
                </a:solidFill>
                <a:latin typeface="Consolas"/>
              </a:defRPr>
            </a:pPr>
            <a:r>
              <a:t>    if ($_SESSION['role'] !== $requiredRole) {</a:t>
            </a:r>
          </a:p>
          <a:p>
            <a:pPr>
              <a:spcAft>
                <a:spcPts val="200"/>
              </a:spcAft>
              <a:defRPr sz="1300">
                <a:solidFill>
                  <a:srgbClr val="22C55E"/>
                </a:solidFill>
                <a:latin typeface="Consolas"/>
              </a:defRPr>
            </a:pPr>
            <a:r>
              <a:t>        header('Location: ../index.php?error=unauthorized');</a:t>
            </a:r>
          </a:p>
          <a:p>
            <a:pPr>
              <a:spcAft>
                <a:spcPts val="200"/>
              </a:spcAft>
              <a:defRPr sz="1300">
                <a:solidFill>
                  <a:srgbClr val="22C55E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200"/>
              </a:spcAft>
              <a:defRPr sz="1300">
                <a:solidFill>
                  <a:srgbClr val="22C55E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366F1"/>
                </a:solidFill>
              </a:defRPr>
            </a:pPr>
            <a:r>
              <a:t>DUAL-ROLE PORTAL SWITCHING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  <a:r>
              <a:t>A lecturer assigned as HOD can switch between HOD Portal and Lecturer Portal.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5156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</a:defRPr>
            </a:pPr>
            <a:r>
              <a:t>Detection Chain: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86000"/>
            <a:ext cx="9601200" cy="822960"/>
          </a:xfrm>
          <a:prstGeom prst="roundRect">
            <a:avLst/>
          </a:prstGeom>
          <a:solidFill>
            <a:srgbClr val="010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200">
                <a:solidFill>
                  <a:srgbClr val="22C55E"/>
                </a:solidFill>
                <a:latin typeface="Consolas"/>
              </a:defRPr>
            </a:pPr>
            <a:r>
              <a:t>isHOD()       -&gt; queries departments.hod_id WHERE hod_id = user_id  (cached in session)</a:t>
            </a:r>
            <a:br/>
            <a:r>
              <a:t>isDualRole()  -&gt; role === 'lecturer' &amp;&amp; isHOD()</a:t>
            </a:r>
            <a:br/>
            <a:r>
              <a:t>getPortalMode() -&gt; returns $_SESSION['portal_mode']  (hod | lecturer)</a:t>
            </a:r>
          </a:p>
          <a:p>
            <a:pPr>
              <a:spcAft>
                <a:spcPts val="200"/>
              </a:spcAft>
              <a:defRPr sz="1200">
                <a:solidFill>
                  <a:srgbClr val="22C55E"/>
                </a:solidFill>
                <a:latin typeface="Consolas"/>
              </a:defRPr>
            </a:pPr>
            <a:r>
              <a:t>isDualRole()  -&gt; role === 'lecturer' &amp;&amp; isHOD()</a:t>
            </a:r>
          </a:p>
          <a:p>
            <a:pPr>
              <a:spcAft>
                <a:spcPts val="200"/>
              </a:spcAft>
              <a:defRPr sz="1200">
                <a:solidFill>
                  <a:srgbClr val="22C55E"/>
                </a:solidFill>
                <a:latin typeface="Consolas"/>
              </a:defRPr>
            </a:pPr>
            <a:r>
              <a:t>getPortalMode() -&gt; returns $_SESSION['portal_mode']  (hod | lecturer)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5029200" cy="2926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</a:defRPr>
            </a:pPr>
            <a:r>
              <a:t>Switching Flow: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1. portal-switch.php?mode=hod&amp;page=dashboard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2. Verify logged in + isDualRole()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3. Verify user has access to requested mode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4. Set $_SESSION['portal_mode'] = $mode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5. Whitelist-validate page (22 allowed pages)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6. session_write_close() -&gt; redirect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474720"/>
            <a:ext cx="5120640" cy="2926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</a:defRPr>
            </a:pPr>
            <a:r>
              <a:t>Why This Design?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02336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Single user record (no duplicate accounts)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Separate portals (clean UI per context)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Session-based mode (no DB query per page)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Whitelist prevents open redirect attacks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portal-switch.php validates mode access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366F1"/>
                </a:solidFill>
              </a:defRPr>
            </a:pPr>
            <a:r>
              <a:t>ENROLLMENT WORKFLOW (3 PATHS)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34747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371600"/>
            <a:ext cx="164592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PATH 1: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</a:defRPr>
            </a:pPr>
            <a:r>
              <a:t>Admin selects student + course -&gt; directly inserts into course_enrollments.</a:t>
            </a:r>
            <a:br/>
            <a:br/>
            <a:r>
              <a:t>No approval needed.</a:t>
            </a:r>
            <a:br/>
            <a:r>
              <a:t>Unrestricted access.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188720"/>
            <a:ext cx="34747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937760" y="1371600"/>
            <a:ext cx="1645920" cy="320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PATH 2: 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8288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</a:defRPr>
            </a:pPr>
            <a:r>
              <a:t>HOD selects student + course scoped to their department.</a:t>
            </a:r>
            <a:br/>
            <a:br/>
            <a:r>
              <a:t>Direct insert.</a:t>
            </a:r>
            <a:br/>
            <a:r>
              <a:t>Department boundary enforced.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188720"/>
            <a:ext cx="34747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0" y="1371600"/>
            <a:ext cx="1645920" cy="320040"/>
          </a:xfrm>
          <a:prstGeom prst="round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PATH 3: STUDENT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8288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</a:defRPr>
            </a:pPr>
            <a:r>
              <a:t>Student requests -&gt; course_approvals (pending).</a:t>
            </a:r>
            <a:br/>
            <a:r>
              <a:t>HOD reviews -&gt; approve creates enrollment.</a:t>
            </a:r>
            <a:br/>
            <a:r>
              <a:t>Audit trail maintained.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10515600" cy="2743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</a:defRPr>
            </a:pPr>
            <a:r>
              <a:t>Student Self-Registration Flow: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572000"/>
            <a:ext cx="1645920" cy="1371600"/>
          </a:xfrm>
          <a:prstGeom prst="round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6344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t>Student</a:t>
            </a:r>
            <a:br/>
            <a:r>
              <a:t>Requests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937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4A3B8"/>
                </a:solidFill>
              </a:defRPr>
            </a:pPr>
            <a:r>
              <a:t>&gt;&gt;&gt;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4572000"/>
            <a:ext cx="1645920" cy="1371600"/>
          </a:xfrm>
          <a:prstGeom prst="round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466344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AB308"/>
                </a:solidFill>
              </a:defRPr>
            </a:pPr>
            <a:r>
              <a:t>course_approvals</a:t>
            </a:r>
            <a:br/>
            <a:r>
              <a:t>status=pending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937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4A3B8"/>
                </a:solidFill>
              </a:defRPr>
            </a:pPr>
            <a:r>
              <a:t>&gt;&gt;&gt;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0" y="4572000"/>
            <a:ext cx="1645920" cy="1371600"/>
          </a:xfrm>
          <a:prstGeom prst="round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0" y="466344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B5CF6"/>
                </a:solidFill>
              </a:defRPr>
            </a:pPr>
            <a:r>
              <a:t>HOD</a:t>
            </a:r>
            <a:br/>
            <a:r>
              <a:t>Reviews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4937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4A3B8"/>
                </a:solidFill>
              </a:defRPr>
            </a:pPr>
            <a:r>
              <a:t>&gt;&gt;&gt;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59" y="4572000"/>
            <a:ext cx="1645920" cy="1371600"/>
          </a:xfrm>
          <a:prstGeom prst="round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59" y="466344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2C55E"/>
                </a:solidFill>
              </a:defRPr>
            </a:pPr>
            <a:r>
              <a:t>Approve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26880" y="4572000"/>
            <a:ext cx="1645920" cy="1371600"/>
          </a:xfrm>
          <a:prstGeom prst="round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0" y="466344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2C55E"/>
                </a:solidFill>
              </a:defRPr>
            </a:pPr>
            <a:r>
              <a:t>course_enrollments</a:t>
            </a:r>
            <a:br/>
            <a:r>
              <a:t>created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4937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5486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F4444"/>
                </a:solidFill>
              </a:defRPr>
            </a:pPr>
            <a:r>
              <a:t>-&gt; Reject -&gt; status=rejected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366F1"/>
                </a:solidFill>
              </a:defRPr>
            </a:pPr>
            <a:r>
              <a:t>GRADE MANAGEMENT 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366F1"/>
                </a:solidFill>
              </a:defRPr>
            </a:pPr>
            <a:r>
              <a:t>Grade Components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4572000" cy="32004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470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Component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8470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Max Marks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94560"/>
            <a:ext cx="4572000" cy="3200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2128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</a:defRPr>
            </a:pPr>
            <a:r>
              <a:t>Assignment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2128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2E8F0"/>
                </a:solidFill>
              </a:defRPr>
            </a:pPr>
            <a:r>
              <a:t>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60320"/>
            <a:ext cx="4572000" cy="320040"/>
          </a:xfrm>
          <a:prstGeom prst="round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578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</a:defRPr>
            </a:pPr>
            <a:r>
              <a:t>Assignment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5786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2E8F0"/>
                </a:solidFill>
              </a:defRPr>
            </a:pPr>
            <a:r>
              <a:t>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926080"/>
            <a:ext cx="4572000" cy="3200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9443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</a:defRPr>
            </a:pPr>
            <a:r>
              <a:t>Midterm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9443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2E8F0"/>
                </a:solidFill>
              </a:defRPr>
            </a:pPr>
            <a:r>
              <a:t>20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291840"/>
            <a:ext cx="4572000" cy="320040"/>
          </a:xfrm>
          <a:prstGeom prst="round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3101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</a:defRPr>
            </a:pPr>
            <a:r>
              <a:t>Final Exam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3101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2E8F0"/>
                </a:solidFill>
              </a:defRPr>
            </a:pPr>
            <a:r>
              <a:t>30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657600"/>
            <a:ext cx="4572000" cy="32004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6758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TOTAL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6758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1188720"/>
            <a:ext cx="5303520" cy="3200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366F1"/>
                </a:solidFill>
              </a:defRPr>
            </a:pPr>
            <a:r>
              <a:t>Letter Grade Algorithm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1828800"/>
            <a:ext cx="4846320" cy="2286000"/>
          </a:xfrm>
          <a:prstGeom prst="roundRect">
            <a:avLst/>
          </a:prstGeom>
          <a:solidFill>
            <a:srgbClr val="010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400">
                <a:solidFill>
                  <a:srgbClr val="22C55E"/>
                </a:solidFill>
                <a:latin typeface="Consolas"/>
              </a:defRPr>
            </a:pPr>
            <a:r>
              <a:t>total = assignment1 + assignment2</a:t>
            </a:r>
            <a:br/>
            <a:r>
              <a:t>        + midterm + finalExam</a:t>
            </a:r>
            <a:br/>
            <a:br/>
            <a:r>
              <a:t>if total &gt;= 90: A</a:t>
            </a:r>
            <a:br/>
            <a:r>
              <a:t>elif total &gt;= 80: B</a:t>
            </a:r>
            <a:br/>
            <a:r>
              <a:t>elif total &gt;= 70: C</a:t>
            </a:r>
            <a:br/>
            <a:r>
              <a:t>elif total &gt;= 60: D</a:t>
            </a:r>
            <a:br/>
            <a:r>
              <a:t>else: F</a:t>
            </a:r>
          </a:p>
          <a:p>
            <a:pPr>
              <a:spcAft>
                <a:spcPts val="200"/>
              </a:spcAft>
              <a:defRPr sz="1400">
                <a:solidFill>
                  <a:srgbClr val="22C55E"/>
                </a:solidFill>
                <a:latin typeface="Consolas"/>
              </a:defRPr>
            </a:pPr>
            <a:r>
              <a:t>        + midterm + finalExam</a:t>
            </a:r>
          </a:p>
          <a:p>
            <a:pPr>
              <a:spcAft>
                <a:spcPts val="200"/>
              </a:spcAft>
              <a:defRPr sz="1400">
                <a:solidFill>
                  <a:srgbClr val="22C55E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22C55E"/>
                </a:solidFill>
                <a:latin typeface="Consolas"/>
              </a:defRPr>
            </a:pPr>
            <a:r>
              <a:t>if total &gt;= 90: A</a:t>
            </a:r>
          </a:p>
          <a:p>
            <a:pPr>
              <a:spcAft>
                <a:spcPts val="200"/>
              </a:spcAft>
              <a:defRPr sz="1400">
                <a:solidFill>
                  <a:srgbClr val="22C55E"/>
                </a:solidFill>
                <a:latin typeface="Consolas"/>
              </a:defRPr>
            </a:pPr>
            <a:r>
              <a:t>elif total &gt;= 80: B</a:t>
            </a:r>
          </a:p>
          <a:p>
            <a:pPr>
              <a:spcAft>
                <a:spcPts val="200"/>
              </a:spcAft>
              <a:defRPr sz="1400">
                <a:solidFill>
                  <a:srgbClr val="22C55E"/>
                </a:solidFill>
                <a:latin typeface="Consolas"/>
              </a:defRPr>
            </a:pPr>
            <a:r>
              <a:t>elif total &gt;= 70: C</a:t>
            </a:r>
          </a:p>
          <a:p>
            <a:pPr>
              <a:spcAft>
                <a:spcPts val="200"/>
              </a:spcAft>
              <a:defRPr sz="1400">
                <a:solidFill>
                  <a:srgbClr val="22C55E"/>
                </a:solidFill>
                <a:latin typeface="Consolas"/>
              </a:defRPr>
            </a:pPr>
            <a:r>
              <a:t>elif total &gt;= 60: D</a:t>
            </a:r>
          </a:p>
          <a:p>
            <a:pPr>
              <a:spcAft>
                <a:spcPts val="200"/>
              </a:spcAft>
              <a:defRPr sz="1400">
                <a:solidFill>
                  <a:srgbClr val="22C55E"/>
                </a:solidFill>
                <a:latin typeface="Consolas"/>
              </a:defRPr>
            </a:pPr>
            <a:r>
              <a:t>else: F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663440"/>
            <a:ext cx="5029200" cy="1828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</a:defRPr>
            </a:pPr>
            <a:r>
              <a:t>Key Patterns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21208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Upsert: Check if exists -&gt; UPDATE, else INSERT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UNIQUE(enrollment_id) prevents duplicates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graded_by tracks accountability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Same logic for HOD and Lecturer portals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4663440"/>
            <a:ext cx="5303520" cy="1828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B308"/>
                </a:solidFill>
              </a:defRPr>
            </a:pPr>
            <a:r>
              <a:t>Who Can Enter Grades?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521208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HOD: For courses they teach (course.lecturer_id)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Lecturer: For their assigned courses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Admin: No grade entry (view only via reports)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Students: View-only access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366F1"/>
                </a:solidFill>
              </a:defRPr>
            </a:pPr>
            <a:r>
              <a:t>ATTENDANCE &amp; FINANCIAL SYSTEMS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303520" cy="53035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366F1"/>
                </a:solidFill>
              </a:defRPr>
            </a:pPr>
            <a:r>
              <a:t>Attendance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  <a:r>
              <a:t>Per-course, per-day tracking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  <a:r>
              <a:t>UNIQUE(enrollment_id, date) constraint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  <a:r>
              <a:t>Three statuses: Present, Absent, Late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  <a:r>
              <a:t>Upsert pattern (same as grades)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  <a:r>
              <a:t>Default: Present (pre-selected)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  <a:r>
              <a:t>Date picker defaults to today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  <a:r>
              <a:t>HOD + Lecturer can record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  <a:r>
              <a:t>~150 records in seed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188720"/>
            <a:ext cx="5029200" cy="53035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C55E"/>
                </a:solidFill>
              </a:defRPr>
            </a:pPr>
            <a:r>
              <a:t>Financial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  <a:r>
              <a:t>CREDIT_FEE = 20,000 FRW per credit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  <a:r>
              <a:t>All courses: 3 credits = 60,000 FRW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  <a:r>
              <a:t>Financial portal shows: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  <a:r>
              <a:t>  - Total fees (credits x CREDIT_FEE)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  <a:r>
              <a:t>  - Amount paid (from payments table)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  <a:r>
              <a:t>  - Outstanding balance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  <a:r>
              <a:t>Payment methods: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  <a:r>
              <a:t>  Mobile Money, Bank Transfer, Cash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  <a:r>
              <a:t>External link: UrubutoPay gateway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  <a:r>
              <a:t>13 payment records in seed 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366F1"/>
                </a:solidFill>
              </a:defRPr>
            </a:pPr>
            <a:r>
              <a:t>REPORTING &amp;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Admin Reports: 380 lines of PHP with 10+ Chart.js visualizations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11887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</a:defRPr>
            </a:pPr>
            <a:r>
              <a:t>1. User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Doughnut - by role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645920"/>
            <a:ext cx="2560320" cy="11887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0" y="1783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</a:defRPr>
            </a:pPr>
            <a:r>
              <a:t>2. Students by Dept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2194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Bar 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45920"/>
            <a:ext cx="2560320" cy="11887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783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</a:defRPr>
            </a:pPr>
            <a:r>
              <a:t>3. Courses by Dept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94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Bar chart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645920"/>
            <a:ext cx="2560320" cy="11887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1783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</a:defRPr>
            </a:pPr>
            <a:r>
              <a:t>4. Enrollments by Dept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194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Bar chart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108960"/>
            <a:ext cx="2560320" cy="11887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246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</a:defRPr>
            </a:pPr>
            <a:r>
              <a:t>5. Revenue by Dept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57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Bar chart (FRW)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66160" y="3108960"/>
            <a:ext cx="2560320" cy="11887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0" y="3246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</a:defRPr>
            </a:pPr>
            <a:r>
              <a:t>6. Grade Distribution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40" y="3657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Doughnut - letter grades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108960"/>
            <a:ext cx="2560320" cy="11887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3246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</a:defRPr>
            </a:pPr>
            <a:r>
              <a:t>7. Avg Grade by Dept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657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Horizontal bar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3108960"/>
            <a:ext cx="2560320" cy="11887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3246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</a:defRPr>
            </a:pPr>
            <a:r>
              <a:t>8. Popular Courses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3657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Horizontal bar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572000"/>
            <a:ext cx="2560320" cy="11887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709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</a:defRPr>
            </a:pPr>
            <a:r>
              <a:t>9. Attendance Overview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1206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Doughnut - P/A/L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66160" y="4572000"/>
            <a:ext cx="2560320" cy="11887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4709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</a:defRPr>
            </a:pPr>
            <a:r>
              <a:t>10. Top Students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40" y="51206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Data table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4572000"/>
            <a:ext cx="2560320" cy="11887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4709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</a:defRPr>
            </a:pPr>
            <a:r>
              <a:t>11. At-Risk Students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1206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Data table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35440" y="4572000"/>
            <a:ext cx="2560320" cy="11887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18320" y="4709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</a:defRPr>
            </a:pPr>
            <a:r>
              <a:t>12. Recent Enrollments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0" y="51206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Data table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Dashboard analytics also available per portal: Admin, HOD, Lecturer, Student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366F1"/>
                </a:solidFill>
              </a:defRPr>
            </a:pPr>
            <a:r>
              <a:t>FRONTEND PATTERNS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303520" cy="2560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</a:defRPr>
            </a:pPr>
            <a:r>
              <a:t>Animated Counters (dashboard.js)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4846320" cy="1828800"/>
          </a:xfrm>
          <a:prstGeom prst="roundRect">
            <a:avLst/>
          </a:prstGeom>
          <a:solidFill>
            <a:srgbClr val="010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>
                <a:solidFill>
                  <a:srgbClr val="22C55E"/>
                </a:solidFill>
                <a:latin typeface="Consolas"/>
              </a:defRPr>
            </a:pPr>
            <a:r>
              <a:t>const easeOut = 1 - Math.pow(1 - progress, 3);  // Cubic ease-out</a:t>
            </a:r>
            <a:br/>
            <a:r>
              <a:t>// requestAnimationFrame loop, 1200ms duration</a:t>
            </a:r>
            <a:br/>
            <a:r>
              <a:t>// data-counter attribute drives the target value</a:t>
            </a:r>
            <a:br/>
            <a:r>
              <a:t>// Starts at 0, animates to target</a:t>
            </a:r>
          </a:p>
          <a:p>
            <a:pPr>
              <a:spcAft>
                <a:spcPts val="200"/>
              </a:spcAft>
              <a:defRPr sz="1300">
                <a:solidFill>
                  <a:srgbClr val="22C55E"/>
                </a:solidFill>
                <a:latin typeface="Consolas"/>
              </a:defRPr>
            </a:pPr>
            <a:r>
              <a:t>// requestAnimationFrame loop, 1200ms duration</a:t>
            </a:r>
          </a:p>
          <a:p>
            <a:pPr>
              <a:spcAft>
                <a:spcPts val="200"/>
              </a:spcAft>
              <a:defRPr sz="1300">
                <a:solidFill>
                  <a:srgbClr val="22C55E"/>
                </a:solidFill>
                <a:latin typeface="Consolas"/>
              </a:defRPr>
            </a:pPr>
            <a:r>
              <a:t>// data-counter attribute drives the target value</a:t>
            </a:r>
          </a:p>
          <a:p>
            <a:pPr>
              <a:spcAft>
                <a:spcPts val="200"/>
              </a:spcAft>
              <a:defRPr sz="1300">
                <a:solidFill>
                  <a:srgbClr val="22C55E"/>
                </a:solidFill>
                <a:latin typeface="Consolas"/>
              </a:defRPr>
            </a:pPr>
            <a:r>
              <a:t>// Starts at 0, animates to target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188720"/>
            <a:ext cx="5029200" cy="2560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</a:defRPr>
            </a:pPr>
            <a:r>
              <a:t>Real-Time Table Search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737360"/>
            <a:ext cx="4572000" cy="1828800"/>
          </a:xfrm>
          <a:prstGeom prst="roundRect">
            <a:avLst/>
          </a:prstGeom>
          <a:solidFill>
            <a:srgbClr val="010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>
                <a:solidFill>
                  <a:srgbClr val="22C55E"/>
                </a:solidFill>
                <a:latin typeface="Consolas"/>
              </a:defRPr>
            </a:pPr>
            <a:r>
              <a:t>initTableSearch(inputId, tableId)</a:t>
            </a:r>
            <a:br/>
            <a:r>
              <a:t>  -&gt; Filters rows by text content</a:t>
            </a:r>
            <a:br/>
            <a:r>
              <a:t>  -&gt; Shows 'No results found' message</a:t>
            </a:r>
            <a:br/>
            <a:br/>
            <a:r>
              <a:t>initSearchableSelect(selectId)</a:t>
            </a:r>
            <a:br/>
            <a:r>
              <a:t>  -&gt; Injects search above &lt;select&gt;</a:t>
            </a:r>
          </a:p>
          <a:p>
            <a:pPr>
              <a:spcAft>
                <a:spcPts val="200"/>
              </a:spcAft>
              <a:defRPr sz="1300">
                <a:solidFill>
                  <a:srgbClr val="22C55E"/>
                </a:solidFill>
                <a:latin typeface="Consolas"/>
              </a:defRPr>
            </a:pPr>
            <a:r>
              <a:t>  -&gt; Filters rows by text content</a:t>
            </a:r>
          </a:p>
          <a:p>
            <a:pPr>
              <a:spcAft>
                <a:spcPts val="200"/>
              </a:spcAft>
              <a:defRPr sz="1300">
                <a:solidFill>
                  <a:srgbClr val="22C55E"/>
                </a:solidFill>
                <a:latin typeface="Consolas"/>
              </a:defRPr>
            </a:pPr>
            <a:r>
              <a:t>  -&gt; Shows 'No results found' message</a:t>
            </a:r>
          </a:p>
          <a:p>
            <a:pPr>
              <a:spcAft>
                <a:spcPts val="200"/>
              </a:spcAft>
              <a:defRPr sz="1300">
                <a:solidFill>
                  <a:srgbClr val="22C55E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22C55E"/>
                </a:solidFill>
                <a:latin typeface="Consolas"/>
              </a:defRPr>
            </a:pPr>
            <a:r>
              <a:t>initSearchableSelect(selectId)</a:t>
            </a:r>
          </a:p>
          <a:p>
            <a:pPr>
              <a:spcAft>
                <a:spcPts val="200"/>
              </a:spcAft>
              <a:defRPr sz="1300">
                <a:solidFill>
                  <a:srgbClr val="22C55E"/>
                </a:solidFill>
                <a:latin typeface="Consolas"/>
              </a:defRPr>
            </a:pPr>
            <a:r>
              <a:t>  -&gt; Injects search above &lt;select&gt;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10515600" cy="2560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</a:defRPr>
            </a:pPr>
            <a:r>
              <a:t>Reusable UI Components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renderSidebar($activePage)    -&gt; Role-appropriate sidebar navigation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renderPortalSwitch($page)     -&gt; Portal switch button for dual-role users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generateCSRFToken()           -&gt; 64-char hex token for form protection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sanitize($data)               -&gt; Recursive htmlspecialchars + trim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initTableSearch($input, $tbl) -&gt; Client-side table filtering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initCharts($configs)          -&gt; Chart.js wrapper with consistent defaults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366F1"/>
                </a:solidFill>
              </a:defRPr>
            </a:pPr>
            <a:r>
              <a:t>ARCHITECTURE TRADEOFFS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515600" cy="41148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Aspect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234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Choice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234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Tradeoff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515600" cy="457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099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66F1"/>
                </a:solidFill>
              </a:defRPr>
            </a:pPr>
            <a:r>
              <a:t>No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7099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</a:defRPr>
            </a:pPr>
            <a:r>
              <a:t>Vanilla PHP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7099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More boilerplate, but full control and understanding of internals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148840"/>
            <a:ext cx="10515600" cy="457200"/>
          </a:xfrm>
          <a:prstGeom prst="round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128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66F1"/>
                </a:solidFill>
              </a:defRPr>
            </a:pPr>
            <a:r>
              <a:t>Session Caching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2128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</a:defRPr>
            </a:pPr>
            <a:r>
              <a:t>$_SESSION cache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2128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Fast, but stale if not cleared manually on data changes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651760"/>
            <a:ext cx="10515600" cy="457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7157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66F1"/>
                </a:solidFill>
              </a:defRPr>
            </a:pPr>
            <a:r>
              <a:t>Prepared Statements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7157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</a:defRPr>
            </a:pPr>
            <a:r>
              <a:t>bind_param()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7157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Verbose, but bulletproof against SQL injection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154680"/>
            <a:ext cx="10515600" cy="457200"/>
          </a:xfrm>
          <a:prstGeom prst="round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2186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66F1"/>
                </a:solidFill>
              </a:defRPr>
            </a:pPr>
            <a:r>
              <a:t>Upsert Pattern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2186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</a:defRPr>
            </a:pPr>
            <a:r>
              <a:t>Check-then-insert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321868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Two queries, but compatible with older MySQL versions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657600"/>
            <a:ext cx="10515600" cy="457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7216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66F1"/>
                </a:solidFill>
              </a:defRPr>
            </a:pPr>
            <a:r>
              <a:t>Client-side 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37216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</a:defRPr>
            </a:pPr>
            <a:r>
              <a:t>JS table filtering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372160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Fast UX, but doesn't scale with 10k+ rows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160520"/>
            <a:ext cx="10515600" cy="457200"/>
          </a:xfrm>
          <a:prstGeom prst="round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245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66F1"/>
                </a:solidFill>
              </a:defRPr>
            </a:pPr>
            <a:r>
              <a:t>Full Page Reloads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2245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</a:defRPr>
            </a:pPr>
            <a:r>
              <a:t>No AJAX/SPA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42245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Simpler architecture, but less responsive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F4444"/>
                </a:solidFill>
              </a:defRPr>
            </a:pPr>
            <a:r>
              <a:t>TRICKY Q&amp;A - SECURITY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5156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B308"/>
                </a:solidFill>
              </a:defRPr>
            </a:pPr>
            <a:r>
              <a:t>Q: Why timing-safe comparison for CSRF?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hash_equals() runs in constant time, preventing timing attacks where an attacker measures response time to guess the token character by character.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105156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B308"/>
                </a:solidFill>
              </a:defRPr>
            </a:pPr>
            <a:r>
              <a:t>Q: How does the rate limiter handle edge cases?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Keyed by md5(REMOTE_ADDR) per IP, 15-min sliding window, counter persists in session. After 15 min the key expires. Failed attempts increment; successful login doesn't reset.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46320"/>
            <a:ext cx="105156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B308"/>
                </a:solidFill>
              </a:defRPr>
            </a:pPr>
            <a:r>
              <a:t>Q: What prevents open redirect in portal-switch.php?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949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Whitelist of 22 allowed page names + basename() to strip path traversal. Without this, ?page=../../evil.com could redirect users off-site.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8B5CF6"/>
                </a:solidFill>
              </a:defRPr>
            </a:pPr>
            <a:r>
              <a:t>TRICKY Q&amp;A -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5156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B308"/>
                </a:solidFill>
              </a:defRPr>
            </a:pPr>
            <a:r>
              <a:t>Q: Why session caching for isHOD()? How do you handle staleness?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Caches result in $_SESSION to avoid DB queries per request. Cleared manually via unset($_SESSION['_is_hod_cache']) when HOD assignment changes. 300s regeneration also resets.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105156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B308"/>
                </a:solidFill>
              </a:defRPr>
            </a:pPr>
            <a:r>
              <a:t>Q: What happens if a lecturer tries to enroll students in another dept?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HOD enrollment query includes WHERE department_id = HOD's dept. Course won't appear in dropdown. Check at query level, not just UI.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46320"/>
            <a:ext cx="105156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B308"/>
                </a:solidFill>
              </a:defRPr>
            </a:pPr>
            <a:r>
              <a:t>Q: How does ensureAuxTables() handle fresh installs?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949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Creates course_schedules and payments tables at runtime if missing. Graceful degradation prevents fatal errors without requiring manual DB migration.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2C55E"/>
                </a:solidFill>
              </a:defRPr>
            </a:pPr>
            <a:r>
              <a:t>TRICKY Q&amp;A - DATA INTEGRITY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5156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B308"/>
                </a:solidFill>
              </a:defRPr>
            </a:pPr>
            <a:r>
              <a:t>Q: How does the grade upsert prevent duplicates?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Two layers: App-level check if grade exists for enrollment_id -&gt; UPDATE if yes, INSERT if no. DB-level UNIQUE KEY unique_grade(enrollment_id) rejects duplicates even if app check fails.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105156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B308"/>
                </a:solidFill>
              </a:defRPr>
            </a:pPr>
            <a:r>
              <a:t>Q: Why three enrollment paths instead of one?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Different trust boundaries: Admin has full trust, HOD has department trust, Students need oversight. course_approvals provides audit trail (who requested, who reviewed, when).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46320"/>
            <a:ext cx="105156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B308"/>
                </a:solidFill>
              </a:defRPr>
            </a:pPr>
            <a:r>
              <a:t>Q: Why session_write_close() before redirect?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949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PHP locks session file until script ends. Without closing, next request waits for lock. session_write_close() releases lock immediately, allowing faster redirect.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6366F1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2E8F0"/>
                </a:solidFill>
              </a:defRPr>
            </a:pPr>
            <a:r>
              <a:t>School Management Information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114800"/>
            <a:ext cx="1645920" cy="13716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366F1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Database Tables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4114800"/>
            <a:ext cx="1645920" cy="13716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42062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366F1"/>
                </a:solidFill>
              </a:defRPr>
            </a:pPr>
            <a:r>
              <a:t>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4846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PHP Files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4114800"/>
            <a:ext cx="1645920" cy="13716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42062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366F1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846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User Roles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114800"/>
            <a:ext cx="1645920" cy="13716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2062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366F1"/>
                </a:solidFill>
              </a:defRPr>
            </a:pPr>
            <a: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846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Courses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4114800"/>
            <a:ext cx="1645920" cy="13716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2062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366F1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846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Enrollment Paths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4114800"/>
            <a:ext cx="1645920" cy="13716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42062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366F1"/>
                </a:solidFill>
              </a:defRPr>
            </a:pPr>
            <a:r>
              <a:t>10+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4846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Chart Visualizations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2E8F0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